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0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F1B45"/>
          </a:solidFill>
          <a:ln w="12700">
            <a:solidFill>
              <a:srgbClr val="0F1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Sentiment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· Baseline &amp; Advanced Modeling · Explainable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310896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108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Dataset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310896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3108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49240" y="310896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3108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· XGBoost · SHAP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01 – 03  |  Exploratory Analysis · Preprocessing · Advanced Modeling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5156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97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Data Understanding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stakeholders &amp; datasets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5156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66360" y="1097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5087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shape, class imbalance discovery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1488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14884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4884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1945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606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VADER labeling, stratified split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1488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14884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14884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21945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2606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Multinomial Naive Bayes results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2461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24612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4612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291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703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rebalancing + XGBoost improvements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2461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24612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24612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291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3703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attributes drive sentiment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43434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434340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4340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" y="43891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" y="48006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wins, remaining gaps, future work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Data Understanding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2412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managers face a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glut"</a:t>
            </a:r>
            <a:pPr indent="0" marL="0">
              <a:buNone/>
            </a:pPr>
            <a:r>
              <a:rPr lang="en-US" sz="12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platforms like Amazon. Star ratings reveal </a:t>
            </a:r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pPr indent="0" marL="0">
              <a:buNone/>
            </a:pPr>
            <a:r>
              <a:rPr lang="en-US" sz="12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happening — but qualitative text reviews reveal </a:t>
            </a:r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pPr indent="0" marL="0">
              <a:buNone/>
            </a:pPr>
            <a:r>
              <a:rPr lang="en-US" sz="12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Reading thousands of reviews manually is not scalable.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2926080"/>
            <a:ext cx="512064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9992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64992"/>
            <a:ext cx="48463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robust NLP pipeline that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 unstructured text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sentiment across retail datasets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Explainable AI (SHAP) to justify predictions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06440" y="960120"/>
            <a:ext cx="2926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960120"/>
            <a:ext cx="292608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960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9788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/ Regional Brand Manager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25312" y="205740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product defects automatically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25312" y="256032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sentiment shifts early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25312" y="306324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product health at scale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25312" y="356616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reading 1000s of reviews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60120"/>
            <a:ext cx="41148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Electronics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88720" cy="6858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572768"/>
            <a:ext cx="1188720" cy="6858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1920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572768"/>
            <a:ext cx="1188720" cy="6858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(India)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1920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" y="2724912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6791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&amp; category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" y="3163824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11810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(numeric)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" y="3602736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55701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&amp; actual price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" y="4041648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9959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 scope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960120"/>
            <a:ext cx="41148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60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Tech Reviews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1572768"/>
            <a:ext cx="1188720" cy="6858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25,891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37760" y="1920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1572768"/>
            <a:ext cx="1188720" cy="6858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17920" y="1920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1572768"/>
            <a:ext cx="1188720" cy="6858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(Bangladesh)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0" y="1920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65192" y="2724912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48072" y="26791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reviews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65192" y="3163824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8072" y="311810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&amp; price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65192" y="3602736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48072" y="355701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consumer feedback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65192" y="404164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8072" y="39959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platform scope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0" y="4434840"/>
            <a:ext cx="24688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4434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35,359 records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EDA Finding: Severe Class Imbalance in Sentiment Labels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91640" y="1819656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819656"/>
            <a:ext cx="4053535" cy="3474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20,838  (80.6%)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243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91640" y="2660904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2660904"/>
            <a:ext cx="920344" cy="34747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6243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4,729  (18.3%)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6557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91640" y="3502152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3502152"/>
            <a:ext cx="109728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346557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  (1.3%)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343400"/>
            <a:ext cx="832104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With negatives at only ~1.3% of data, a naive model can achieve high accuracy while being completely blind to product defects — the most critical signal for brand managers.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1783080"/>
            <a:ext cx="2971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70448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Labeling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70448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generated automatically using VADER compound score thresholds: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70448" y="2697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0.05  → 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95160" y="2697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70448" y="30449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-0.05  → 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30449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70448" y="33924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 → 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339242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70448" y="37307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VADER applied to raw text (not cleaned) to preserve capitalization &amp; punctuation cues.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5156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9966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25272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all characters to lowercase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02920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1907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664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192024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http/https links via regex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295144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38658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Special Chars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258775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alphabetic characters &amp; spaces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962656"/>
            <a:ext cx="502920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0540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7552" y="325526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individual word tokens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630168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72160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36667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Stop-Word Removal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7552" y="392277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common English stop-words + words &lt; 3 chars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297680"/>
            <a:ext cx="502920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3891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8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43342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7552" y="459028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words to their base dictionary form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960120"/>
            <a:ext cx="3063240" cy="40050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79008" y="10241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Transformation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79008" y="146304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55664" y="146304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"GREAT Battery!! Check http://amzn.to/xyz"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779008" y="1938528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55664" y="1938528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"great battery!! check http://amzn.to/xyz"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779008" y="2414016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URLs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55664" y="2414016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"great battery!! check "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779008" y="288950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55664" y="2889504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"great battery check"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779008" y="3364992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55664" y="3364992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["great", "battery", "check"]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779008" y="384048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Stop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55664" y="384048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["great", "battery", "check"]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779008" y="4315968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55664" y="4315968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["great", "battery", "check"]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11480" y="4617720"/>
            <a:ext cx="502920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Train/Test Split  ·  Training: 28,287 records  ·  Test: 7,072 records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Model: TF-IDF + Naive Bayes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0116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96312" y="96012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43784" y="960120"/>
            <a:ext cx="2286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43784" y="960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02936" y="96012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50408" y="960120"/>
            <a:ext cx="20116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0408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Prediction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 (Test Set — 7,072 records)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011680"/>
          <a:ext cx="5029200" cy="2011680"/>
        </p:xfrm>
        <a:graphic>
          <a:graphicData uri="http://schemas.openxmlformats.org/drawingml/2006/table">
            <a:tbl>
              <a:tblPr/>
              <a:tblGrid>
                <a:gridCol w="1188720"/>
                <a:gridCol w="960120"/>
                <a:gridCol w="960120"/>
                <a:gridCol w="960120"/>
                <a:gridCol w="9601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 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8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715000" y="960120"/>
            <a:ext cx="2926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06440" y="10698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5806440" y="1618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06440" y="1892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Misleadingly high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15000" y="2377440"/>
            <a:ext cx="2926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06440" y="24871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14.7%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5806440" y="3035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Recall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06440" y="3310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15000" y="3794760"/>
            <a:ext cx="2926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806440" y="39044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5806440" y="4453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Recall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06440" y="4727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 bias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11480" y="4142232"/>
            <a:ext cx="5029200" cy="749808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0352" y="4169664"/>
            <a:ext cx="4791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model is functionally blind to negative reviews — detecting only 15 out of every 100. For a brand manager monitoring product defects, this is an unacceptable failure mode.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Modeling: SMOTE + XGBoost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60120"/>
            <a:ext cx="4114800" cy="4572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  ·  SMOTE Rebalancing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Over-sampling Technique generates synthetic negative &amp; neutral examples in the TF-IDF feature space — applied only to training data to prevent data leakage.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44368"/>
            <a:ext cx="1783080" cy="320040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443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Negative: ~1.3%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32888" y="2944368"/>
            <a:ext cx="1810512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294436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Negative: Balanced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60120"/>
            <a:ext cx="41148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  ·  XGBoost Classifier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50876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ensemble method trained on the resampled data. Captures non-linear feature interactions that Naive Bayes cannot, improving discrimination across all three sentiment classes.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944368"/>
            <a:ext cx="1783080" cy="320040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9443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NB: Linear boundaries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22008" y="2944368"/>
            <a:ext cx="1810512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294436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XGB: Non-linear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389120"/>
            <a:ext cx="83210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Result: Negative class recall improved from ~5% → 60%+ target, while overall accuracy remains strong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AI: SHAP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reveals the top TF-IDF tokens driving each sentiment class — giving brand managers actionable, attribute-level insights.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2651760" cy="4114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Drivers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1208" y="1920240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19656" y="1920240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9656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" y="2395728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19656" y="2395728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9656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" y="2871216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19656" y="2871216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9656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" y="3346704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19656" y="3346704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9656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defects and return experiences are the strongest negative signals — directly actionable for quality monitoring.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141732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B8C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1417320"/>
            <a:ext cx="2651760" cy="4114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Drivers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55848" y="1920240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54296" y="1920240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4296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55848" y="2395728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54296" y="2395728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55848" y="2871216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54296" y="2871216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54296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55848" y="3346704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5848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54296" y="3346704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54296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33756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words and specification-heavy terms dominate — factual reviews with no strong sentiment.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80760" y="141732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80760" y="1417320"/>
            <a:ext cx="2651760" cy="4114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Drivers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90488" y="1920240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0488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488936" y="1920240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88936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90488" y="2395728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0488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488936" y="2395728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88936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190488" y="2871216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0488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488936" y="2871216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88936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190488" y="3346704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0488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488936" y="3346704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88936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17220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for performance and recommendations are the strongest positive signals.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11480" y="22860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11480" y="914400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What We Achieved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11480" y="1371600"/>
            <a:ext cx="4114800" cy="567000"/>
          </a:xfrm>
          <a:prstGeom prst="rect">
            <a:avLst/>
          </a:prstGeom>
          <a:solidFill>
            <a:srgbClr val="0F1B45"/>
          </a:solidFill>
          <a:ln cap="flat" cmpd="sng" w="12700">
            <a:solidFill>
              <a:srgbClr val="8EA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02920" y="1463040"/>
            <a:ext cx="164700" cy="164700"/>
          </a:xfrm>
          <a:prstGeom prst="ellipse">
            <a:avLst/>
          </a:prstGeom>
          <a:solidFill>
            <a:srgbClr val="43A047"/>
          </a:solidFill>
          <a:ln cap="flat" cmpd="sng" w="12700">
            <a:solidFill>
              <a:srgbClr val="43A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49808" y="1371600"/>
            <a:ext cx="3657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Resolved negative class blindness via SMOTE (5% → 60%+ recall target)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11480" y="2029968"/>
            <a:ext cx="4114800" cy="567000"/>
          </a:xfrm>
          <a:prstGeom prst="rect">
            <a:avLst/>
          </a:prstGeom>
          <a:solidFill>
            <a:srgbClr val="0F1B45"/>
          </a:solidFill>
          <a:ln cap="flat" cmpd="sng" w="12700">
            <a:solidFill>
              <a:srgbClr val="8EA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502920" y="2121408"/>
            <a:ext cx="164700" cy="164700"/>
          </a:xfrm>
          <a:prstGeom prst="ellipse">
            <a:avLst/>
          </a:prstGeom>
          <a:solidFill>
            <a:srgbClr val="43A047"/>
          </a:solidFill>
          <a:ln cap="flat" cmpd="sng" w="12700">
            <a:solidFill>
              <a:srgbClr val="43A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749808" y="2029968"/>
            <a:ext cx="3657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 captures non-linear interactions Naive Bayes cannot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11480" y="2688336"/>
            <a:ext cx="4114800" cy="567000"/>
          </a:xfrm>
          <a:prstGeom prst="rect">
            <a:avLst/>
          </a:prstGeom>
          <a:solidFill>
            <a:srgbClr val="0F1B45"/>
          </a:solidFill>
          <a:ln cap="flat" cmpd="sng" w="12700">
            <a:solidFill>
              <a:srgbClr val="8EA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502920" y="2779776"/>
            <a:ext cx="164700" cy="164700"/>
          </a:xfrm>
          <a:prstGeom prst="ellipse">
            <a:avLst/>
          </a:prstGeom>
          <a:solidFill>
            <a:srgbClr val="43A047"/>
          </a:solidFill>
          <a:ln cap="flat" cmpd="sng" w="12700">
            <a:solidFill>
              <a:srgbClr val="43A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749808" y="2688336"/>
            <a:ext cx="3657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delivers attribute-level explainability for brand managers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411480" y="3346704"/>
            <a:ext cx="4114800" cy="567000"/>
          </a:xfrm>
          <a:prstGeom prst="rect">
            <a:avLst/>
          </a:prstGeom>
          <a:solidFill>
            <a:srgbClr val="0F1B45"/>
          </a:solidFill>
          <a:ln cap="flat" cmpd="sng" w="12700">
            <a:solidFill>
              <a:srgbClr val="8EA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502920" y="3438144"/>
            <a:ext cx="164700" cy="164700"/>
          </a:xfrm>
          <a:prstGeom prst="ellipse">
            <a:avLst/>
          </a:prstGeom>
          <a:solidFill>
            <a:srgbClr val="43A047"/>
          </a:solidFill>
          <a:ln cap="flat" cmpd="sng" w="12700">
            <a:solidFill>
              <a:srgbClr val="43A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749808" y="3346704"/>
            <a:ext cx="3657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Scikit-learn Pipeline ensures reproducibility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411480" y="47548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8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EA8D8"/>
                </a:solidFill>
                <a:latin typeface="Calibri"/>
                <a:ea typeface="Calibri"/>
                <a:cs typeface="Calibri"/>
                <a:sym typeface="Calibri"/>
              </a:rPr>
              <a:t>E-Commerce Sentiment Analysis  ·  Notebooks 01–03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