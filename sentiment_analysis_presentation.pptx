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F1B45"/>
          </a:solidFill>
          <a:ln w="12700">
            <a:solidFill>
              <a:srgbClr val="0F1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Sentiment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· Baseline &amp; Advanced Modeling · Explainable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310896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Dataset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310896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3108960"/>
            <a:ext cx="2286000" cy="347472"/>
          </a:xfrm>
          <a:prstGeom prst="roundRect">
            <a:avLst>
              <a:gd name="adj" fmla="val 18421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XGBoost · SHAP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01 – 03  |  Exploratory Analysis · Preprocessing · Advanced Modeling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5156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Data Understanding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stakeholders &amp; datasets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5156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6360" y="1097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508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shape, class imbalance discovery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1488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14884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4884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1945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606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VADER labeling, stratified split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1488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14884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14884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21945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606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Multinomial Naive Bayes results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2461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24612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4612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291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703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rebalancing + XGBoost improvements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2461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24612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24612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291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3703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attributes drive sentiment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43434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4343400"/>
            <a:ext cx="38404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43400"/>
            <a:ext cx="384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" y="4389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4800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wins, remaining gaps, future work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Data Understanding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2412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managers face a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glut"</a:t>
            </a:r>
            <a:pPr indent="0" marL="0">
              <a:buNone/>
            </a:pPr>
            <a:r>
              <a:rPr lang="en-US" sz="12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platforms like Amazon. Star ratings reveal </a:t>
            </a:r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buNone/>
            </a:pPr>
            <a:r>
              <a:rPr lang="en-US" sz="12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happening — but qualitative text reviews reveal </a:t>
            </a:r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indent="0" marL="0">
              <a:buNone/>
            </a:pPr>
            <a:r>
              <a:rPr lang="en-US" sz="12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Reading thousands of reviews manually is not scalable.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2926080"/>
            <a:ext cx="512064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9992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64992"/>
            <a:ext cx="48463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robust NLP pipeline that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unstructured text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sentiment across retail datasets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Explainable AI (SHAP) to justify predictions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960120"/>
            <a:ext cx="2926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960120"/>
            <a:ext cx="292608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960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9788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/ Regional Brand Manager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25312" y="205740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product defects automatically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25312" y="256032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sentiment shifts early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25312" y="306324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product health at scale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25312" y="356616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reading 1000s of reviews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60120"/>
            <a:ext cx="41148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Electronics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(India)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" y="2724912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6791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&amp; category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" y="3163824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1181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(numeric)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" y="3602736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5570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actual price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" y="4041648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9959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 scope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960120"/>
            <a:ext cx="41148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960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Tech Reviews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25,891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3776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1792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1572768"/>
            <a:ext cx="1188720" cy="6858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15727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(Bangladesh)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1920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65192" y="2724912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48072" y="26791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reviews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65192" y="3163824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8072" y="31181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&amp; price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65192" y="3602736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48072" y="35570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consumer feedback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65192" y="404164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8072" y="39959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platform scope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0" y="4434840"/>
            <a:ext cx="24688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4434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35,359 records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EDA Finding: Severe Class Imbalance in Sentiment Labels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1819656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819656"/>
            <a:ext cx="4053535" cy="3474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20,838  (80.6%)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243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91640" y="2660904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660904"/>
            <a:ext cx="920344" cy="3474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6243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4,729  (18.3%)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6557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91640" y="3502152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3502152"/>
            <a:ext cx="109728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46557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  (1.3%)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343400"/>
            <a:ext cx="832104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708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With negatives at only ~1.3% of data, a naive model can achieve high accuracy while being completely blind to product defects — the most critical signal for brand managers.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1783080"/>
            <a:ext cx="2971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70448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70448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generated automatically using VADER compound score thresholds: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70448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0.05  →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95160" y="2697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70448" y="30449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-0.05  → 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30449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70448" y="33924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 → 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339242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70448" y="37307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VADER applied to raw text (not cleaned) to preserve capitalization &amp; punctuation cues.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996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25272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all characters to lowercase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02920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1907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URLs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92024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http/https links via regex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295144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8658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Special Chars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258775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alphabetic characters &amp; spaces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962656"/>
            <a:ext cx="502920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540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54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" y="325526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individual word tokens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630168"/>
            <a:ext cx="5029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72160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21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36667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Stop-Word Removal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39227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common English stop-words + words &lt; 3 chars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297680"/>
            <a:ext cx="5029200" cy="566928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3891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43342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7552" y="459028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their base dictionary form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960120"/>
            <a:ext cx="3063240" cy="40050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1024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Transformation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79008" y="146304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55664" y="146304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 Battery!! Check http://amzn.to/xyz"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79008" y="1938528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55664" y="1938528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 battery!! check http://amzn.to/xyz"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79008" y="2414016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URLs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55664" y="2414016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 battery!! check "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779008" y="288950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55664" y="2889504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 battery check"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79008" y="3364992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55664" y="3364992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["great", "battery", "check"]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779008" y="384048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Stop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55664" y="384048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["great", "battery", "check"]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779008" y="4315968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55664" y="4315968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["great", "battery", "check"]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11480" y="4617720"/>
            <a:ext cx="502920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Train/Test Split  ·  Training: 28,287 records  ·  Test: 7,072 records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Model: TF-IDF + Naive Bayes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011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96312" y="96012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43784" y="960120"/>
            <a:ext cx="2286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43784" y="960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02936" y="96012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50408" y="960120"/>
            <a:ext cx="2011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0408" y="960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 (Test Set — 7,072 records)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011680"/>
          <a:ext cx="5029200" cy="2011680"/>
        </p:xfrm>
        <a:graphic>
          <a:graphicData uri="http://schemas.openxmlformats.org/drawingml/2006/table">
            <a:tbl>
              <a:tblPr/>
              <a:tblGrid>
                <a:gridCol w="1188720"/>
                <a:gridCol w="960120"/>
                <a:gridCol w="960120"/>
                <a:gridCol w="960120"/>
                <a:gridCol w="9601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8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715000" y="960120"/>
            <a:ext cx="2926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10698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5806440" y="1618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1892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Misleadingly high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15000" y="2377440"/>
            <a:ext cx="2926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06440" y="248716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5806440" y="3035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Recall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06440" y="3310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15000" y="3794760"/>
            <a:ext cx="2926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06440" y="39044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806440" y="4453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Recall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06440" y="4727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 bias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11480" y="4142232"/>
            <a:ext cx="5029200" cy="749808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0352" y="4169664"/>
            <a:ext cx="4791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model is functionally blind to negative reviews — detecting only 15 out of every 100. For a brand manager monitoring product defects, this is an unacceptable failure mode.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Modeling: SMOTE + XGBoost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60120"/>
            <a:ext cx="4114800" cy="4572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  ·  SMOTE Rebalancing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Over-sampling Technique generates synthetic negative &amp; neutral examples in the TF-IDF feature space — applied only to training data to prevent data leakage.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1783080" cy="32004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443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Negative: ~1.3%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32888" y="2944368"/>
            <a:ext cx="1810512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294436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Negative: Balanced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60120"/>
            <a:ext cx="41148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  ·  XGBoost Classifier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ensemble method trained on the resampled data. Captures non-linear feature interactions that Naive Bayes cannot, improving discrimination across all three sentiment classes.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2944368"/>
            <a:ext cx="1783080" cy="32004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9443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NB: Linear boundaries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22008" y="2944368"/>
            <a:ext cx="1810512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2944368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XGB: Non-linear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389120"/>
            <a:ext cx="83210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Negative class recall improved from ~5% → 60%+ target, while overall accuracy remains strong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AI: SHAP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reveals the top TF-IDF tokens driving each sentiment class — giving brand managers actionable, attribute-level insights.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2651760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Drivers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" y="1920240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19656" y="1920240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9656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1208" y="2395728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19656" y="2395728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9656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" y="2871216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19656" y="2871216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9656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" y="3346704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19656" y="3346704"/>
            <a:ext cx="118872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9656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defects and return experiences are the strongest negative signals — directly actionable for quality monitoring.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141732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1417320"/>
            <a:ext cx="2651760" cy="4114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Drivers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55848" y="1920240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54296" y="1920240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55848" y="2395728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54296" y="2395728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55848" y="2871216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54296" y="2871216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54296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55848" y="3346704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54296" y="3346704"/>
            <a:ext cx="118872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54296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33756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words and specification-heavy terms dominate — factual reviews with no strong sentiment.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80760" y="1417320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0760" y="1417320"/>
            <a:ext cx="2651760" cy="4114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1417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Drivers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90488" y="1920240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0488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488936" y="1920240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88936" y="1920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90488" y="2395728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0488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488936" y="2395728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88936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190488" y="2871216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488936" y="2871216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88936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190488" y="3346704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0488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488936" y="3346704"/>
            <a:ext cx="118872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88936" y="33467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17220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for performance and recommendations are the strongest positive signals.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114800" cy="566928"/>
          </a:xfrm>
          <a:prstGeom prst="rect">
            <a:avLst/>
          </a:prstGeom>
          <a:solidFill>
            <a:srgbClr val="0F1B45"/>
          </a:solidFill>
          <a:ln w="12700">
            <a:solidFill>
              <a:srgbClr val="8EA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716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negative class blindness via SMOTE (5% → 60%+ recall target)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4114800" cy="566928"/>
          </a:xfrm>
          <a:prstGeom prst="rect">
            <a:avLst/>
          </a:prstGeom>
          <a:solidFill>
            <a:srgbClr val="0F1B45"/>
          </a:solidFill>
          <a:ln w="12700">
            <a:solidFill>
              <a:srgbClr val="8EA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21408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299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captures non-linear interactions Naive Bayes cannot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688336"/>
            <a:ext cx="4114800" cy="566928"/>
          </a:xfrm>
          <a:prstGeom prst="rect">
            <a:avLst/>
          </a:prstGeom>
          <a:solidFill>
            <a:srgbClr val="0F1B45"/>
          </a:solidFill>
          <a:ln w="12700">
            <a:solidFill>
              <a:srgbClr val="8EA8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79776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6883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delivers attribute-level explainability for brand managers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346704"/>
            <a:ext cx="4114800" cy="566928"/>
          </a:xfrm>
          <a:prstGeom prst="rect">
            <a:avLst/>
          </a:prstGeom>
          <a:solidFill>
            <a:srgbClr val="0F1B45"/>
          </a:solidFill>
          <a:ln w="12700">
            <a:solidFill>
              <a:srgbClr val="8EA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38144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34670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Scikit-learn Pipeline ensures reproducibility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3931920" cy="786384"/>
          </a:xfrm>
          <a:prstGeom prst="rect">
            <a:avLst/>
          </a:prstGeom>
          <a:solidFill>
            <a:srgbClr val="0F1B45"/>
          </a:solidFill>
          <a:ln w="12700">
            <a:solidFill>
              <a:srgbClr val="8EA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08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Text-level augmentation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168249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works in feature space; augment raw text for richer variety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249424"/>
            <a:ext cx="3931920" cy="786384"/>
          </a:xfrm>
          <a:prstGeom prst="rect">
            <a:avLst/>
          </a:prstGeom>
          <a:solidFill>
            <a:srgbClr val="0F1B45"/>
          </a:solidFill>
          <a:ln w="12700">
            <a:solidFill>
              <a:srgbClr val="8EA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TF-IDF vocabulary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25603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cap: 5,000 features — expand or use n-grams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127248"/>
            <a:ext cx="3931920" cy="786384"/>
          </a:xfrm>
          <a:prstGeom prst="rect">
            <a:avLst/>
          </a:prstGeom>
          <a:solidFill>
            <a:srgbClr val="0F1B45"/>
          </a:solidFill>
          <a:ln w="12700">
            <a:solidFill>
              <a:srgbClr val="8EA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1638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embeddings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34381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BERT/DistilBERT for richer contextual representations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005072"/>
            <a:ext cx="3931920" cy="786384"/>
          </a:xfrm>
          <a:prstGeom prst="rect">
            <a:avLst/>
          </a:prstGeom>
          <a:solidFill>
            <a:srgbClr val="0F1B45"/>
          </a:solidFill>
          <a:ln w="12700">
            <a:solidFill>
              <a:srgbClr val="8EA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041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thresholds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92040" y="43159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classification thresholds on predicted probabilities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Sentiment Analysis  ·  Notebooks 01–03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Sentiment Analysis</dc:title>
  <dc:subject>PptxGenJS Presentation</dc:subject>
  <dc:creator>PptxGenJS</dc:creator>
  <cp:lastModifiedBy>PptxGenJS</cp:lastModifiedBy>
  <cp:revision>1</cp:revision>
  <dcterms:created xsi:type="dcterms:W3CDTF">2026-04-24T07:04:06Z</dcterms:created>
  <dcterms:modified xsi:type="dcterms:W3CDTF">2026-04-24T07:04:06Z</dcterms:modified>
</cp:coreProperties>
</file>